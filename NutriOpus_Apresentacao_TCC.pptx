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7818120" y="0"/>
            <a:ext cx="1325880" cy="1463040"/>
          </a:xfrm>
          <a:prstGeom prst="rtTriangle">
            <a:avLst/>
          </a:prstGeom>
          <a:solidFill>
            <a:srgbClr val="1E2A4A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8229600" y="0"/>
            <a:ext cx="914400" cy="2377440"/>
          </a:xfrm>
          <a:prstGeom prst="rtTriangle">
            <a:avLst/>
          </a:prstGeom>
          <a:solidFill>
            <a:srgbClr val="E8D5A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977640"/>
            <a:ext cx="1554480" cy="1170432"/>
          </a:xfrm>
          <a:prstGeom prst="rtTriangle">
            <a:avLst/>
          </a:prstGeom>
          <a:solidFill>
            <a:srgbClr val="E8D5AE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526280"/>
            <a:ext cx="2743200" cy="621792"/>
          </a:xfrm>
          <a:prstGeom prst="rtTriangle">
            <a:avLst/>
          </a:prstGeom>
          <a:solidFill>
            <a:srgbClr val="1E2A4A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411480"/>
            <a:ext cx="777240" cy="777240"/>
          </a:xfrm>
          <a:prstGeom prst="ellipse">
            <a:avLst/>
          </a:prstGeom>
          <a:solidFill>
            <a:srgbClr val="F6EFDF"/>
          </a:solidFill>
          <a:ln w="19050">
            <a:solidFill>
              <a:srgbClr val="1E2A4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598932"/>
            <a:ext cx="402336" cy="40233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600200"/>
            <a:ext cx="310896" cy="310896"/>
          </a:xfrm>
          <a:prstGeom prst="chevron">
            <a:avLst/>
          </a:prstGeom>
          <a:solidFill>
            <a:srgbClr val="E8D5AE"/>
          </a:solidFill>
          <a:ln/>
        </p:spPr>
      </p:sp>
      <p:sp>
        <p:nvSpPr>
          <p:cNvPr id="9" name="Shape 6"/>
          <p:cNvSpPr/>
          <p:nvPr/>
        </p:nvSpPr>
        <p:spPr>
          <a:xfrm>
            <a:off x="790773" y="1600200"/>
            <a:ext cx="310896" cy="310896"/>
          </a:xfrm>
          <a:prstGeom prst="chevron">
            <a:avLst/>
          </a:prstGeom>
          <a:solidFill>
            <a:srgbClr val="E8D5AE"/>
          </a:solidFill>
          <a:ln/>
        </p:spPr>
      </p:sp>
      <p:sp>
        <p:nvSpPr>
          <p:cNvPr id="10" name="Shape 7"/>
          <p:cNvSpPr/>
          <p:nvPr/>
        </p:nvSpPr>
        <p:spPr>
          <a:xfrm>
            <a:off x="1014618" y="1600200"/>
            <a:ext cx="310896" cy="310896"/>
          </a:xfrm>
          <a:prstGeom prst="chevron">
            <a:avLst/>
          </a:prstGeom>
          <a:solidFill>
            <a:srgbClr val="E8D5AE"/>
          </a:solidFill>
          <a:ln/>
        </p:spPr>
      </p:sp>
      <p:sp>
        <p:nvSpPr>
          <p:cNvPr id="11" name="Shape 8"/>
          <p:cNvSpPr/>
          <p:nvPr/>
        </p:nvSpPr>
        <p:spPr>
          <a:xfrm>
            <a:off x="1238463" y="1600200"/>
            <a:ext cx="310896" cy="310896"/>
          </a:xfrm>
          <a:prstGeom prst="chevron">
            <a:avLst/>
          </a:prstGeom>
          <a:solidFill>
            <a:srgbClr val="E8D5AE"/>
          </a:solidFill>
          <a:ln/>
        </p:spPr>
      </p:sp>
      <p:sp>
        <p:nvSpPr>
          <p:cNvPr id="12" name="Text 9"/>
          <p:cNvSpPr/>
          <p:nvPr/>
        </p:nvSpPr>
        <p:spPr>
          <a:xfrm>
            <a:off x="1051560" y="1554480"/>
            <a:ext cx="75895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NutriOpus: Sistema Web para Gestão Nutricional, Atendimento Clínico e Prescrição Alimentar</a:t>
            </a:r>
            <a:endParaRPr lang="en-US" sz="2900" dirty="0"/>
          </a:p>
        </p:txBody>
      </p:sp>
      <p:sp>
        <p:nvSpPr>
          <p:cNvPr id="13" name="Text 10"/>
          <p:cNvSpPr/>
          <p:nvPr/>
        </p:nvSpPr>
        <p:spPr>
          <a:xfrm>
            <a:off x="1508760" y="320040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TRABALHO DE CONCLUSÃO DE CURSO — BACHARELADO EM ENGENHARIA DE SOFTWARE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2423160" y="379476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Paulo Sérgio Oliveira Amorim Filho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Orientadora: Profa. Dra. Ana Carolina Oran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ICOMP / UFAM —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977640"/>
            <a:ext cx="1554480" cy="1170432"/>
          </a:xfrm>
          <a:prstGeom prst="rtTriangle">
            <a:avLst/>
          </a:prstGeom>
          <a:solidFill>
            <a:srgbClr val="E8D5A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26280"/>
            <a:ext cx="2743200" cy="621792"/>
          </a:xfrm>
          <a:prstGeom prst="rtTriangle">
            <a:avLst/>
          </a:prstGeom>
          <a:solidFill>
            <a:srgbClr val="1E2A4A"/>
          </a:solidFill>
          <a:ln/>
        </p:spPr>
      </p:sp>
      <p:sp>
        <p:nvSpPr>
          <p:cNvPr id="4" name="Text 2"/>
          <p:cNvSpPr/>
          <p:nvPr/>
        </p:nvSpPr>
        <p:spPr>
          <a:xfrm>
            <a:off x="4937760" y="292608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77240" y="1051560"/>
            <a:ext cx="3200400" cy="3291840"/>
          </a:xfrm>
          <a:prstGeom prst="roundRect">
            <a:avLst>
              <a:gd name="adj" fmla="val 2571"/>
            </a:avLst>
          </a:prstGeom>
          <a:solidFill>
            <a:srgbClr val="1E2A4A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4248" y="1691640"/>
            <a:ext cx="777240" cy="777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6060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NutriOpus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77240" y="312724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D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nutriopus.com.br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709160" y="11430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1 - </a:t>
            </a:r>
            <a:pPr indent="0" marL="0">
              <a:buNone/>
            </a:pPr>
            <a:r>
              <a:rPr lang="en-US" sz="19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Contextualização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4709160" y="17099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987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2 - </a:t>
            </a:r>
            <a:pPr indent="0" marL="0">
              <a:buNone/>
            </a:pPr>
            <a:r>
              <a:rPr lang="en-US" sz="1900" b="1" dirty="0">
                <a:solidFill>
                  <a:srgbClr val="A987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4709160" y="227685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3 - </a:t>
            </a:r>
            <a:pPr indent="0" marL="0">
              <a:buNone/>
            </a:pPr>
            <a:r>
              <a:rPr lang="en-US" sz="19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4709160" y="284378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987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4 - </a:t>
            </a:r>
            <a:pPr indent="0" marL="0">
              <a:buNone/>
            </a:pPr>
            <a:r>
              <a:rPr lang="en-US" sz="1900" b="1" dirty="0">
                <a:solidFill>
                  <a:srgbClr val="A987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Desenvolvimento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4709160" y="341071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5 - </a:t>
            </a:r>
            <a:pPr indent="0" marL="0">
              <a:buNone/>
            </a:pPr>
            <a:r>
              <a:rPr lang="en-US" sz="19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4709160" y="39776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987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6 - </a:t>
            </a:r>
            <a:pPr indent="0" marL="0">
              <a:buNone/>
            </a:pPr>
            <a:r>
              <a:rPr lang="en-US" sz="1900" b="1" dirty="0">
                <a:solidFill>
                  <a:srgbClr val="A987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Conclusão</a:t>
            </a:r>
            <a:endParaRPr lang="en-US" sz="19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3648" y="4736592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7818120" y="0"/>
            <a:ext cx="1325880" cy="1463040"/>
          </a:xfrm>
          <a:prstGeom prst="rtTriangle">
            <a:avLst/>
          </a:prstGeom>
          <a:solidFill>
            <a:srgbClr val="1E2A4A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8229600" y="0"/>
            <a:ext cx="914400" cy="2377440"/>
          </a:xfrm>
          <a:prstGeom prst="rtTriangle">
            <a:avLst/>
          </a:prstGeom>
          <a:solidFill>
            <a:srgbClr val="E8D5A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9260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Contextualização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rotina do nutricionista exige registro contínuo: </a:t>
            </a:r>
            <a:pPr indent="0" marL="0">
              <a:buNone/>
            </a:pPr>
            <a:r>
              <a:rPr lang="en-US" sz="155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anamnese, medidas, planos alimentares, evolução e comunicação com o paciente.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2560320" cy="2514600"/>
          </a:xfrm>
          <a:prstGeom prst="roundRect">
            <a:avLst>
              <a:gd name="adj" fmla="val 2545"/>
            </a:avLst>
          </a:prstGeom>
          <a:solidFill>
            <a:srgbClr val="F6EFD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99616" y="214884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1348" y="2290572"/>
            <a:ext cx="283464" cy="2834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285292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Fragmentação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667512" y="3218688"/>
            <a:ext cx="223113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Planilhas, mensagens e documentos avulsos geram perda de produtividade e baixa rastreabilidade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291840" y="1874520"/>
            <a:ext cx="2560320" cy="2514600"/>
          </a:xfrm>
          <a:prstGeom prst="roundRect">
            <a:avLst>
              <a:gd name="adj" fmla="val 2545"/>
            </a:avLst>
          </a:prstGeom>
          <a:solidFill>
            <a:srgbClr val="F6EFD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88536" y="214884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0268" y="2290572"/>
            <a:ext cx="283464" cy="28346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91840" y="285292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sensíveis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3456432" y="3218688"/>
            <a:ext cx="223113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Informações de saúde exigem sigilo (CFN) e proteção conforme a LGPD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080760" y="1874520"/>
            <a:ext cx="2560320" cy="2514600"/>
          </a:xfrm>
          <a:prstGeom prst="roundRect">
            <a:avLst>
              <a:gd name="adj" fmla="val 2545"/>
            </a:avLst>
          </a:prstGeom>
          <a:solidFill>
            <a:srgbClr val="F6EFD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077456" y="214884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9188" y="2290572"/>
            <a:ext cx="283464" cy="28346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080760" y="285292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Baixa adesão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6245352" y="3218688"/>
            <a:ext cx="223113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acompanhamento entre consultas, o paciente perde o vínculo com o plano alimentar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502920" y="459028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987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Proposta: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centralizar todo o ciclo do atendimento nutricional em uma única plataforma web.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977640"/>
            <a:ext cx="1554480" cy="1170432"/>
          </a:xfrm>
          <a:prstGeom prst="rtTriangle">
            <a:avLst/>
          </a:prstGeom>
          <a:solidFill>
            <a:srgbClr val="E8D5A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26280"/>
            <a:ext cx="2743200" cy="621792"/>
          </a:xfrm>
          <a:prstGeom prst="rtTriangle">
            <a:avLst/>
          </a:prstGeom>
          <a:solidFill>
            <a:srgbClr val="1E2A4A"/>
          </a:solidFill>
          <a:ln/>
        </p:spPr>
      </p:sp>
      <p:sp>
        <p:nvSpPr>
          <p:cNvPr id="4" name="Text 2"/>
          <p:cNvSpPr/>
          <p:nvPr/>
        </p:nvSpPr>
        <p:spPr>
          <a:xfrm>
            <a:off x="4937760" y="292608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960120" y="640080"/>
            <a:ext cx="502920" cy="502920"/>
          </a:xfrm>
          <a:prstGeom prst="chevron">
            <a:avLst/>
          </a:prstGeom>
          <a:solidFill>
            <a:srgbClr val="E8D5AE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1097280"/>
            <a:ext cx="502920" cy="502920"/>
          </a:xfrm>
          <a:prstGeom prst="chevron">
            <a:avLst/>
          </a:prstGeom>
          <a:solidFill>
            <a:srgbClr val="E8D5AE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1554480"/>
            <a:ext cx="502920" cy="502920"/>
          </a:xfrm>
          <a:prstGeom prst="chevron">
            <a:avLst/>
          </a:prstGeom>
          <a:solidFill>
            <a:srgbClr val="E8D5AE"/>
          </a:solidFill>
          <a:ln/>
        </p:spPr>
      </p:sp>
      <p:sp>
        <p:nvSpPr>
          <p:cNvPr id="8" name="Shape 6"/>
          <p:cNvSpPr/>
          <p:nvPr/>
        </p:nvSpPr>
        <p:spPr>
          <a:xfrm>
            <a:off x="960120" y="2011680"/>
            <a:ext cx="502920" cy="502920"/>
          </a:xfrm>
          <a:prstGeom prst="chevron">
            <a:avLst/>
          </a:prstGeom>
          <a:solidFill>
            <a:srgbClr val="E8D5AE"/>
          </a:solidFill>
          <a:ln/>
        </p:spPr>
      </p:sp>
      <p:sp>
        <p:nvSpPr>
          <p:cNvPr id="9" name="Text 7"/>
          <p:cNvSpPr/>
          <p:nvPr/>
        </p:nvSpPr>
        <p:spPr>
          <a:xfrm>
            <a:off x="1965960" y="1051560"/>
            <a:ext cx="6675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A987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geral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5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Desenvolver um sistema web seguro e integrado para apoiar nutricionistas na gestão de pacientes, avaliações e prescrições alimentares.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965960" y="2286000"/>
            <a:ext cx="6675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Prontuário 360: pacientes, anamnese, medidas, documentos e histórico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Pré-consulta digital pela página pública do profissional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Oficina de planos alimentares com base TACO, substituições e lista de compras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do paciente: diário alimentar, peso, metas e chat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Segurança: autenticação, isolamento por nutricionista e conformidade com a LGPD</a:t>
            </a:r>
            <a:endParaRPr lang="en-US" sz="14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13648" y="4736592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7818120" y="0"/>
            <a:ext cx="1325880" cy="1463040"/>
          </a:xfrm>
          <a:prstGeom prst="rtTriangle">
            <a:avLst/>
          </a:prstGeom>
          <a:solidFill>
            <a:srgbClr val="1E2A4A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8229600" y="0"/>
            <a:ext cx="914400" cy="2377440"/>
          </a:xfrm>
          <a:prstGeom prst="rtTriangle">
            <a:avLst/>
          </a:prstGeom>
          <a:solidFill>
            <a:srgbClr val="E8D5A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9260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1024128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Desenvolvimento iterativo e incremental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funcionalidades essenciais primeiro (MVP), evolução por ciclos validados.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11480" y="1874520"/>
            <a:ext cx="1828800" cy="777240"/>
          </a:xfrm>
          <a:prstGeom prst="chevron">
            <a:avLst/>
          </a:prstGeom>
          <a:solidFill>
            <a:srgbClr val="1E2A4A"/>
          </a:solidFill>
          <a:ln/>
        </p:spPr>
      </p:sp>
      <p:sp>
        <p:nvSpPr>
          <p:cNvPr id="7" name="Text 5"/>
          <p:cNvSpPr/>
          <p:nvPr/>
        </p:nvSpPr>
        <p:spPr>
          <a:xfrm>
            <a:off x="795528" y="187452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12264" y="1874520"/>
            <a:ext cx="1828800" cy="777240"/>
          </a:xfrm>
          <a:prstGeom prst="chevron">
            <a:avLst/>
          </a:prstGeom>
          <a:solidFill>
            <a:srgbClr val="A98743"/>
          </a:solidFill>
          <a:ln/>
        </p:spPr>
      </p:sp>
      <p:sp>
        <p:nvSpPr>
          <p:cNvPr id="9" name="Text 7"/>
          <p:cNvSpPr/>
          <p:nvPr/>
        </p:nvSpPr>
        <p:spPr>
          <a:xfrm>
            <a:off x="2496312" y="187452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13048" y="1874520"/>
            <a:ext cx="1828800" cy="777240"/>
          </a:xfrm>
          <a:prstGeom prst="chevron">
            <a:avLst/>
          </a:prstGeom>
          <a:solidFill>
            <a:srgbClr val="1E2A4A"/>
          </a:solidFill>
          <a:ln/>
        </p:spPr>
      </p:sp>
      <p:sp>
        <p:nvSpPr>
          <p:cNvPr id="11" name="Text 9"/>
          <p:cNvSpPr/>
          <p:nvPr/>
        </p:nvSpPr>
        <p:spPr>
          <a:xfrm>
            <a:off x="4197096" y="187452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Implementação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513832" y="1874520"/>
            <a:ext cx="1828800" cy="777240"/>
          </a:xfrm>
          <a:prstGeom prst="chevron">
            <a:avLst/>
          </a:prstGeom>
          <a:solidFill>
            <a:srgbClr val="A98743"/>
          </a:solidFill>
          <a:ln/>
        </p:spPr>
      </p:sp>
      <p:sp>
        <p:nvSpPr>
          <p:cNvPr id="13" name="Text 11"/>
          <p:cNvSpPr/>
          <p:nvPr/>
        </p:nvSpPr>
        <p:spPr>
          <a:xfrm>
            <a:off x="5897880" y="187452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214616" y="1874520"/>
            <a:ext cx="1828800" cy="777240"/>
          </a:xfrm>
          <a:prstGeom prst="chevron">
            <a:avLst/>
          </a:prstGeom>
          <a:solidFill>
            <a:srgbClr val="1E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7598664" y="187452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Implantação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063240"/>
            <a:ext cx="256032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" y="3200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987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3547872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Autenticação, página pública, pré-consulta e dashboard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91840" y="3063240"/>
            <a:ext cx="256032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474720" y="3200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987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474720" y="3547872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Pacientes, anamnese, antropometria e oficina de planos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080760" y="3063240"/>
            <a:ext cx="256032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263640" y="3200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987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63640" y="3547872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do paciente, agenda, teleconsulta e acompanhamento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2920" y="46177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Requisitos: 24 RF + 13 RNF · 10 user stories com critérios de aceitação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5852160" y="0"/>
            <a:ext cx="3291840" cy="5143500"/>
          </a:xfrm>
          <a:prstGeom prst="rtTriangle">
            <a:avLst/>
          </a:prstGeom>
          <a:solidFill>
            <a:srgbClr val="2A3B66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7406640" y="0"/>
            <a:ext cx="1737360" cy="3108960"/>
          </a:xfrm>
          <a:prstGeom prst="rtTriangle">
            <a:avLst/>
          </a:prstGeom>
          <a:solidFill>
            <a:srgbClr val="E8D5AE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10312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Desenvolvimento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960120" y="3063240"/>
            <a:ext cx="365760" cy="365760"/>
          </a:xfrm>
          <a:prstGeom prst="chevron">
            <a:avLst/>
          </a:prstGeom>
          <a:solidFill>
            <a:srgbClr val="E8D5AE"/>
          </a:solidFill>
          <a:ln/>
        </p:spPr>
      </p:sp>
      <p:sp>
        <p:nvSpPr>
          <p:cNvPr id="6" name="Shape 4"/>
          <p:cNvSpPr/>
          <p:nvPr/>
        </p:nvSpPr>
        <p:spPr>
          <a:xfrm>
            <a:off x="1223467" y="3063240"/>
            <a:ext cx="365760" cy="365760"/>
          </a:xfrm>
          <a:prstGeom prst="chevron">
            <a:avLst/>
          </a:prstGeom>
          <a:solidFill>
            <a:srgbClr val="E8D5AE"/>
          </a:solidFill>
          <a:ln/>
        </p:spPr>
      </p:sp>
      <p:sp>
        <p:nvSpPr>
          <p:cNvPr id="7" name="Shape 5"/>
          <p:cNvSpPr/>
          <p:nvPr/>
        </p:nvSpPr>
        <p:spPr>
          <a:xfrm>
            <a:off x="1486814" y="3063240"/>
            <a:ext cx="365760" cy="365760"/>
          </a:xfrm>
          <a:prstGeom prst="chevron">
            <a:avLst/>
          </a:prstGeom>
          <a:solidFill>
            <a:srgbClr val="E8D5AE"/>
          </a:solidFill>
          <a:ln/>
        </p:spPr>
      </p:sp>
      <p:sp>
        <p:nvSpPr>
          <p:cNvPr id="8" name="Shape 6"/>
          <p:cNvSpPr/>
          <p:nvPr/>
        </p:nvSpPr>
        <p:spPr>
          <a:xfrm>
            <a:off x="1750162" y="3063240"/>
            <a:ext cx="365760" cy="365760"/>
          </a:xfrm>
          <a:prstGeom prst="chevron">
            <a:avLst/>
          </a:prstGeom>
          <a:solidFill>
            <a:srgbClr val="E8D5AE"/>
          </a:solidFill>
          <a:ln/>
        </p:spPr>
      </p:sp>
      <p:sp>
        <p:nvSpPr>
          <p:cNvPr id="9" name="Shape 7"/>
          <p:cNvSpPr/>
          <p:nvPr/>
        </p:nvSpPr>
        <p:spPr>
          <a:xfrm>
            <a:off x="2013509" y="3063240"/>
            <a:ext cx="365760" cy="365760"/>
          </a:xfrm>
          <a:prstGeom prst="chevron">
            <a:avLst/>
          </a:prstGeom>
          <a:solidFill>
            <a:srgbClr val="E8D5AE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13648" y="4736592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977640"/>
            <a:ext cx="1554480" cy="1170432"/>
          </a:xfrm>
          <a:prstGeom prst="rtTriangle">
            <a:avLst/>
          </a:prstGeom>
          <a:solidFill>
            <a:srgbClr val="E8D5A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26280"/>
            <a:ext cx="2743200" cy="621792"/>
          </a:xfrm>
          <a:prstGeom prst="rtTriangle">
            <a:avLst/>
          </a:prstGeom>
          <a:solidFill>
            <a:srgbClr val="1E2A4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9260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Tecnologias utilizadas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920240" cy="1600200"/>
          </a:xfrm>
          <a:prstGeom prst="roundRect">
            <a:avLst>
              <a:gd name="adj" fmla="val 4000"/>
            </a:avLst>
          </a:prstGeom>
          <a:solidFill>
            <a:srgbClr val="F6EFD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07592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16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1892808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Router, Server Components e Server Actions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606040" y="1143000"/>
            <a:ext cx="1920240" cy="1600200"/>
          </a:xfrm>
          <a:prstGeom prst="roundRect">
            <a:avLst>
              <a:gd name="adj" fmla="val 4000"/>
            </a:avLst>
          </a:prstGeom>
          <a:solidFill>
            <a:srgbClr val="F6EFD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0" y="1307592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+ TypeScript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743200" y="1892808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tipada de ponta a ponta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1143000"/>
            <a:ext cx="1920240" cy="1600200"/>
          </a:xfrm>
          <a:prstGeom prst="roundRect">
            <a:avLst>
              <a:gd name="adj" fmla="val 4000"/>
            </a:avLst>
          </a:prstGeom>
          <a:solidFill>
            <a:srgbClr val="F6EFD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1307592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Prisma ORM 6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846320" y="1892808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Esquema declarativo e cliente tipado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812280" y="1143000"/>
            <a:ext cx="1920240" cy="1600200"/>
          </a:xfrm>
          <a:prstGeom prst="roundRect">
            <a:avLst>
              <a:gd name="adj" fmla="val 4000"/>
            </a:avLst>
          </a:prstGeom>
          <a:solidFill>
            <a:srgbClr val="F6EFD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49440" y="1307592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· Supabase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949440" y="1892808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 relacional gerenciado em nuvem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2926080"/>
            <a:ext cx="192024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3090672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 4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0080" y="3675888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responsiva e consistente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606040" y="2926080"/>
            <a:ext cx="192024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743200" y="3090672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+ bcrypt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0" y="3675888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Sessões httpOnly e senhas com hash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09160" y="2926080"/>
            <a:ext cx="192024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46320" y="3090672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846320" y="3675888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Implantação contínua em produção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812280" y="2926080"/>
            <a:ext cx="192024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949440" y="3090672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IA: Llama (Groq) + OpenAI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949440" y="3675888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aberto gratuito para resumos e transcrições</a:t>
            </a:r>
            <a:endParaRPr lang="en-US" sz="1050" dirty="0"/>
          </a:p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13648" y="4736592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Arquitetura do sistema</a:t>
            </a:r>
            <a:endParaRPr lang="en-US" sz="3200" dirty="0"/>
          </a:p>
        </p:txBody>
      </p:sp>
      <p:pic>
        <p:nvPicPr>
          <p:cNvPr id="3" name="Image 0" descr="diag/arquitetu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4526" y="1051560"/>
            <a:ext cx="3996554" cy="3063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1234440"/>
            <a:ext cx="3977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Aplicação full-stack em camadas sobre o Next.js App Router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Components consultam o banco no próprio servidor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Camada de serviços concentra regras, validação (Zod) e autorização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Isolamento multiusuário: toda consulta filtrada por nutricionista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Serviços externos: Vercel Blob, Resend, IA (Llama/Groq) e Google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502920" y="466344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Figura: arquitetura gerada a partir do código do repositório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 de dados</a:t>
            </a:r>
            <a:endParaRPr lang="en-US" sz="3200" dirty="0"/>
          </a:p>
        </p:txBody>
      </p:sp>
      <p:pic>
        <p:nvPicPr>
          <p:cNvPr id="3" name="Image 0" descr="diag/m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854578" cy="3200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532120" y="1097280"/>
            <a:ext cx="3108960" cy="731520"/>
          </a:xfrm>
          <a:prstGeom prst="roundRect">
            <a:avLst>
              <a:gd name="adj" fmla="val 8750"/>
            </a:avLst>
          </a:prstGeom>
          <a:solidFill>
            <a:srgbClr val="F6EFD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687568" y="10972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 entidades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modeladas no Prisma para o domínio nutricional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532120" y="1938528"/>
            <a:ext cx="310896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687568" y="1938528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Multi-tenant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os registros vinculados ao nutricionista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532120" y="2779776"/>
            <a:ext cx="310896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687568" y="2779776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Integridade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chaves estrangeiras, unicidade e enums nativos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532120" y="3621024"/>
            <a:ext cx="310896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687568" y="3621024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Rastreável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timestamps automáticos em todas as tabelas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502920" y="466344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 gerado a partir do prisma/schema.prisma real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 do atendimento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35240" y="411480"/>
            <a:ext cx="365760" cy="365760"/>
          </a:xfrm>
          <a:prstGeom prst="chevron">
            <a:avLst/>
          </a:prstGeom>
          <a:solidFill>
            <a:srgbClr val="E8D5AE"/>
          </a:solidFill>
          <a:ln/>
        </p:spPr>
      </p:sp>
      <p:sp>
        <p:nvSpPr>
          <p:cNvPr id="4" name="Shape 2"/>
          <p:cNvSpPr/>
          <p:nvPr/>
        </p:nvSpPr>
        <p:spPr>
          <a:xfrm>
            <a:off x="7898587" y="411480"/>
            <a:ext cx="365760" cy="365760"/>
          </a:xfrm>
          <a:prstGeom prst="chevron">
            <a:avLst/>
          </a:prstGeom>
          <a:solidFill>
            <a:srgbClr val="E8D5AE"/>
          </a:solidFill>
          <a:ln/>
        </p:spPr>
      </p:sp>
      <p:sp>
        <p:nvSpPr>
          <p:cNvPr id="5" name="Shape 3"/>
          <p:cNvSpPr/>
          <p:nvPr/>
        </p:nvSpPr>
        <p:spPr>
          <a:xfrm>
            <a:off x="8161934" y="411480"/>
            <a:ext cx="365760" cy="365760"/>
          </a:xfrm>
          <a:prstGeom prst="chevron">
            <a:avLst/>
          </a:prstGeom>
          <a:solidFill>
            <a:srgbClr val="E8D5AE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234440"/>
            <a:ext cx="2560320" cy="566928"/>
          </a:xfrm>
          <a:prstGeom prst="chevron">
            <a:avLst/>
          </a:prstGeom>
          <a:solidFill>
            <a:srgbClr val="1E2A4A"/>
          </a:solidFill>
          <a:ln/>
        </p:spPr>
      </p:sp>
      <p:sp>
        <p:nvSpPr>
          <p:cNvPr id="7" name="Text 5"/>
          <p:cNvSpPr/>
          <p:nvPr/>
        </p:nvSpPr>
        <p:spPr>
          <a:xfrm>
            <a:off x="941832" y="123444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Pré-consulta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12648" y="1892808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paciente preenche anamnese na página pública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91840" y="1234440"/>
            <a:ext cx="2560320" cy="566928"/>
          </a:xfrm>
          <a:prstGeom prst="chevron">
            <a:avLst/>
          </a:prstGeom>
          <a:solidFill>
            <a:srgbClr val="1E2A4A"/>
          </a:solidFill>
          <a:ln/>
        </p:spPr>
      </p:sp>
      <p:sp>
        <p:nvSpPr>
          <p:cNvPr id="10" name="Text 8"/>
          <p:cNvSpPr/>
          <p:nvPr/>
        </p:nvSpPr>
        <p:spPr>
          <a:xfrm>
            <a:off x="3730752" y="123444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Revisão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401568" y="1892808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 e pontos de atenção no dashboard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80760" y="1234440"/>
            <a:ext cx="2560320" cy="566928"/>
          </a:xfrm>
          <a:prstGeom prst="chevron">
            <a:avLst/>
          </a:prstGeom>
          <a:solidFill>
            <a:srgbClr val="1E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6519672" y="123444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Avaliação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190488" y="1892808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medidas, IMC e dobras cutâneas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3017520"/>
            <a:ext cx="2560320" cy="566928"/>
          </a:xfrm>
          <a:prstGeom prst="chevron">
            <a:avLst/>
          </a:prstGeom>
          <a:solidFill>
            <a:srgbClr val="A98743"/>
          </a:solidFill>
          <a:ln/>
        </p:spPr>
      </p:sp>
      <p:sp>
        <p:nvSpPr>
          <p:cNvPr id="16" name="Text 14"/>
          <p:cNvSpPr/>
          <p:nvPr/>
        </p:nvSpPr>
        <p:spPr>
          <a:xfrm>
            <a:off x="941832" y="301752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Prescrição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12648" y="3675888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alimentar na oficina de planos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91840" y="3017520"/>
            <a:ext cx="2560320" cy="566928"/>
          </a:xfrm>
          <a:prstGeom prst="chevron">
            <a:avLst/>
          </a:prstGeom>
          <a:solidFill>
            <a:srgbClr val="A98743"/>
          </a:solidFill>
          <a:ln/>
        </p:spPr>
      </p:sp>
      <p:sp>
        <p:nvSpPr>
          <p:cNvPr id="19" name="Text 17"/>
          <p:cNvSpPr/>
          <p:nvPr/>
        </p:nvSpPr>
        <p:spPr>
          <a:xfrm>
            <a:off x="3730752" y="301752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Portal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401568" y="3675888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cardápio, diário, peso, metas e chat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080760" y="3017520"/>
            <a:ext cx="2560320" cy="566928"/>
          </a:xfrm>
          <a:prstGeom prst="chevron">
            <a:avLst/>
          </a:prstGeom>
          <a:solidFill>
            <a:srgbClr val="A98743"/>
          </a:solidFill>
          <a:ln/>
        </p:spPr>
      </p:sp>
      <p:sp>
        <p:nvSpPr>
          <p:cNvPr id="22" name="Text 20"/>
          <p:cNvSpPr/>
          <p:nvPr/>
        </p:nvSpPr>
        <p:spPr>
          <a:xfrm>
            <a:off x="6519672" y="301752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Reavaliação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190488" y="3675888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evolução comparada e ajuste do plano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2920" y="466344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contínuo: a reavaliação reabre o fluxo de consulta e prescrição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tTriangle">
            <a:avLst/>
          </a:prstGeom>
          <a:solidFill>
            <a:srgbClr val="2A3B6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011680"/>
            <a:ext cx="1737360" cy="3131820"/>
          </a:xfrm>
          <a:prstGeom prst="rtTriangle">
            <a:avLst/>
          </a:prstGeom>
          <a:solidFill>
            <a:srgbClr val="E8D5AE"/>
          </a:solidFill>
          <a:ln/>
        </p:spPr>
      </p:sp>
      <p:sp>
        <p:nvSpPr>
          <p:cNvPr id="4" name="Text 2"/>
          <p:cNvSpPr/>
          <p:nvPr/>
        </p:nvSpPr>
        <p:spPr>
          <a:xfrm>
            <a:off x="3017520" y="21031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6949440" y="3063240"/>
            <a:ext cx="365760" cy="365760"/>
          </a:xfrm>
          <a:prstGeom prst="chevron">
            <a:avLst/>
          </a:prstGeom>
          <a:solidFill>
            <a:srgbClr val="E8D5AE"/>
          </a:solidFill>
          <a:ln/>
        </p:spPr>
      </p:sp>
      <p:sp>
        <p:nvSpPr>
          <p:cNvPr id="6" name="Shape 4"/>
          <p:cNvSpPr/>
          <p:nvPr/>
        </p:nvSpPr>
        <p:spPr>
          <a:xfrm>
            <a:off x="7212787" y="3063240"/>
            <a:ext cx="365760" cy="365760"/>
          </a:xfrm>
          <a:prstGeom prst="chevron">
            <a:avLst/>
          </a:prstGeom>
          <a:solidFill>
            <a:srgbClr val="E8D5AE"/>
          </a:solidFill>
          <a:ln/>
        </p:spPr>
      </p:sp>
      <p:sp>
        <p:nvSpPr>
          <p:cNvPr id="7" name="Shape 5"/>
          <p:cNvSpPr/>
          <p:nvPr/>
        </p:nvSpPr>
        <p:spPr>
          <a:xfrm>
            <a:off x="7476134" y="3063240"/>
            <a:ext cx="365760" cy="365760"/>
          </a:xfrm>
          <a:prstGeom prst="chevron">
            <a:avLst/>
          </a:prstGeom>
          <a:solidFill>
            <a:srgbClr val="E8D5AE"/>
          </a:solidFill>
          <a:ln/>
        </p:spPr>
      </p:sp>
      <p:sp>
        <p:nvSpPr>
          <p:cNvPr id="8" name="Shape 6"/>
          <p:cNvSpPr/>
          <p:nvPr/>
        </p:nvSpPr>
        <p:spPr>
          <a:xfrm>
            <a:off x="7739482" y="3063240"/>
            <a:ext cx="365760" cy="365760"/>
          </a:xfrm>
          <a:prstGeom prst="chevron">
            <a:avLst/>
          </a:prstGeom>
          <a:solidFill>
            <a:srgbClr val="E8D5AE"/>
          </a:solidFill>
          <a:ln/>
        </p:spPr>
      </p:sp>
      <p:sp>
        <p:nvSpPr>
          <p:cNvPr id="9" name="Shape 7"/>
          <p:cNvSpPr/>
          <p:nvPr/>
        </p:nvSpPr>
        <p:spPr>
          <a:xfrm>
            <a:off x="8002829" y="3063240"/>
            <a:ext cx="365760" cy="365760"/>
          </a:xfrm>
          <a:prstGeom prst="chevron">
            <a:avLst/>
          </a:prstGeom>
          <a:solidFill>
            <a:srgbClr val="E8D5AE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13648" y="4736592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977640"/>
            <a:ext cx="1554480" cy="1170432"/>
          </a:xfrm>
          <a:prstGeom prst="rtTriangle">
            <a:avLst/>
          </a:prstGeom>
          <a:solidFill>
            <a:srgbClr val="E8D5A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26280"/>
            <a:ext cx="2743200" cy="621792"/>
          </a:xfrm>
          <a:prstGeom prst="rtTriangle">
            <a:avLst/>
          </a:prstGeom>
          <a:solidFill>
            <a:srgbClr val="1E2A4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9260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— Gestão clínica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93268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com indicadores da rotina e prontuário 360 do paciente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1463040"/>
            <a:ext cx="3657600" cy="3017520"/>
          </a:xfrm>
          <a:prstGeom prst="roundRect">
            <a:avLst>
              <a:gd name="adj" fmla="val 1818"/>
            </a:avLst>
          </a:prstGeom>
          <a:solidFill>
            <a:srgbClr val="FBF9F3"/>
          </a:solidFill>
          <a:ln w="12700">
            <a:solidFill>
              <a:srgbClr val="BBAE8E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777240" y="1463040"/>
            <a:ext cx="36576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do nutricionista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inserir print do sistema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463040"/>
            <a:ext cx="3657600" cy="3017520"/>
          </a:xfrm>
          <a:prstGeom prst="roundRect">
            <a:avLst>
              <a:gd name="adj" fmla="val 1818"/>
            </a:avLst>
          </a:prstGeom>
          <a:solidFill>
            <a:srgbClr val="FBF9F3"/>
          </a:solidFill>
          <a:ln w="12700">
            <a:solidFill>
              <a:srgbClr val="BBAE8E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4709160" y="1463040"/>
            <a:ext cx="36576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Ficha do paciente (prontuário 360)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inserir print do sistema</a:t>
            </a:r>
            <a:endParaRPr lang="en-US" sz="13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13648" y="4736592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977640"/>
            <a:ext cx="1554480" cy="1170432"/>
          </a:xfrm>
          <a:prstGeom prst="rtTriangle">
            <a:avLst/>
          </a:prstGeom>
          <a:solidFill>
            <a:srgbClr val="E8D5A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26280"/>
            <a:ext cx="2743200" cy="621792"/>
          </a:xfrm>
          <a:prstGeom prst="rtTriangle">
            <a:avLst/>
          </a:prstGeom>
          <a:solidFill>
            <a:srgbClr val="1E2A4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9260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— Prescrição alimentar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93268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Oficina de planos com cálculo automático de macros, base TACO e substituições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1463040"/>
            <a:ext cx="3657600" cy="3017520"/>
          </a:xfrm>
          <a:prstGeom prst="roundRect">
            <a:avLst>
              <a:gd name="adj" fmla="val 1818"/>
            </a:avLst>
          </a:prstGeom>
          <a:solidFill>
            <a:srgbClr val="FBF9F3"/>
          </a:solidFill>
          <a:ln w="12700">
            <a:solidFill>
              <a:srgbClr val="BBAE8E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777240" y="1463040"/>
            <a:ext cx="36576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Oficina de planos alimentares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inserir print do sistema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463040"/>
            <a:ext cx="3657600" cy="3017520"/>
          </a:xfrm>
          <a:prstGeom prst="roundRect">
            <a:avLst>
              <a:gd name="adj" fmla="val 1818"/>
            </a:avLst>
          </a:prstGeom>
          <a:solidFill>
            <a:srgbClr val="FBF9F3"/>
          </a:solidFill>
          <a:ln w="12700">
            <a:solidFill>
              <a:srgbClr val="BBAE8E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4709160" y="1463040"/>
            <a:ext cx="36576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TACO e substituições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inserir print do sistema</a:t>
            </a:r>
            <a:endParaRPr lang="en-US" sz="13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13648" y="4736592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977640"/>
            <a:ext cx="1554480" cy="1170432"/>
          </a:xfrm>
          <a:prstGeom prst="rtTriangle">
            <a:avLst/>
          </a:prstGeom>
          <a:solidFill>
            <a:srgbClr val="E8D5A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26280"/>
            <a:ext cx="2743200" cy="621792"/>
          </a:xfrm>
          <a:prstGeom prst="rtTriangle">
            <a:avLst/>
          </a:prstGeom>
          <a:solidFill>
            <a:srgbClr val="1E2A4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9260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— Portal do paciente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93268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Cardápio ativo, diário alimentar, registro de peso, metas e chat integrado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1463040"/>
            <a:ext cx="3657600" cy="3017520"/>
          </a:xfrm>
          <a:prstGeom prst="roundRect">
            <a:avLst>
              <a:gd name="adj" fmla="val 1818"/>
            </a:avLst>
          </a:prstGeom>
          <a:solidFill>
            <a:srgbClr val="FBF9F3"/>
          </a:solidFill>
          <a:ln w="12700">
            <a:solidFill>
              <a:srgbClr val="BBAE8E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777240" y="1463040"/>
            <a:ext cx="36576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— cardápio do paciente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inserir print do sistema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463040"/>
            <a:ext cx="3657600" cy="3017520"/>
          </a:xfrm>
          <a:prstGeom prst="roundRect">
            <a:avLst>
              <a:gd name="adj" fmla="val 1818"/>
            </a:avLst>
          </a:prstGeom>
          <a:solidFill>
            <a:srgbClr val="FBF9F3"/>
          </a:solidFill>
          <a:ln w="12700">
            <a:solidFill>
              <a:srgbClr val="BBAE8E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4709160" y="1463040"/>
            <a:ext cx="36576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Diário alimentar e chat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inserir print do sistema</a:t>
            </a:r>
            <a:endParaRPr lang="en-US" sz="13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13648" y="4736592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Segurança e LGPD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35240" y="411480"/>
            <a:ext cx="365760" cy="365760"/>
          </a:xfrm>
          <a:prstGeom prst="chevron">
            <a:avLst/>
          </a:prstGeom>
          <a:solidFill>
            <a:srgbClr val="E8D5AE"/>
          </a:solidFill>
          <a:ln/>
        </p:spPr>
      </p:sp>
      <p:sp>
        <p:nvSpPr>
          <p:cNvPr id="4" name="Shape 2"/>
          <p:cNvSpPr/>
          <p:nvPr/>
        </p:nvSpPr>
        <p:spPr>
          <a:xfrm>
            <a:off x="7898587" y="411480"/>
            <a:ext cx="365760" cy="365760"/>
          </a:xfrm>
          <a:prstGeom prst="chevron">
            <a:avLst/>
          </a:prstGeom>
          <a:solidFill>
            <a:srgbClr val="E8D5AE"/>
          </a:solidFill>
          <a:ln/>
        </p:spPr>
      </p:sp>
      <p:sp>
        <p:nvSpPr>
          <p:cNvPr id="5" name="Shape 3"/>
          <p:cNvSpPr/>
          <p:nvPr/>
        </p:nvSpPr>
        <p:spPr>
          <a:xfrm>
            <a:off x="8161934" y="411480"/>
            <a:ext cx="365760" cy="365760"/>
          </a:xfrm>
          <a:prstGeom prst="chevron">
            <a:avLst/>
          </a:prstGeom>
          <a:solidFill>
            <a:srgbClr val="E8D5AE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234440"/>
            <a:ext cx="3931920" cy="1463040"/>
          </a:xfrm>
          <a:prstGeom prst="roundRect">
            <a:avLst>
              <a:gd name="adj" fmla="val 4375"/>
            </a:avLst>
          </a:prstGeom>
          <a:solidFill>
            <a:srgbClr val="F6EFD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664208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96" y="1815084"/>
            <a:ext cx="301752" cy="3017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123444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Senhas com hash bcrypt</a:t>
            </a:r>
            <a:endParaRPr lang="en-US" sz="14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nenhuma senha em texto puro, para profissionais e pacientes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4663440" y="1234440"/>
            <a:ext cx="3931920" cy="1463040"/>
          </a:xfrm>
          <a:prstGeom prst="roundRect">
            <a:avLst>
              <a:gd name="adj" fmla="val 4375"/>
            </a:avLst>
          </a:prstGeom>
          <a:solidFill>
            <a:srgbClr val="F6EFD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92040" y="1664208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2916" y="1815084"/>
            <a:ext cx="301752" cy="301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69280" y="123444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Sessões JWT httpOnly</a:t>
            </a:r>
            <a:endParaRPr lang="en-US" sz="14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assinado, inacessível a scripts no navegador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502920" y="2926080"/>
            <a:ext cx="393192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1520" y="3355848"/>
            <a:ext cx="603504" cy="603504"/>
          </a:xfrm>
          <a:prstGeom prst="ellipse">
            <a:avLst/>
          </a:prstGeom>
          <a:solidFill>
            <a:srgbClr val="F6EFD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" y="3506724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292608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Isolamento por tenant</a:t>
            </a:r>
            <a:endParaRPr lang="en-US" sz="14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nutricionista acessa somente os próprios dados</a:t>
            </a:r>
            <a:endParaRPr lang="en-US" sz="1450" dirty="0"/>
          </a:p>
        </p:txBody>
      </p:sp>
      <p:sp>
        <p:nvSpPr>
          <p:cNvPr id="18" name="Shape 13"/>
          <p:cNvSpPr/>
          <p:nvPr/>
        </p:nvSpPr>
        <p:spPr>
          <a:xfrm>
            <a:off x="4663440" y="2926080"/>
            <a:ext cx="393192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892040" y="3355848"/>
            <a:ext cx="603504" cy="603504"/>
          </a:xfrm>
          <a:prstGeom prst="ellipse">
            <a:avLst/>
          </a:prstGeom>
          <a:solidFill>
            <a:srgbClr val="F6EFD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2916" y="3506724"/>
            <a:ext cx="301752" cy="30175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669280" y="292608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Visibilidade controlada</a:t>
            </a:r>
            <a:endParaRPr lang="en-US" sz="14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documentos liberados ao paciente apenas quando autorizado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502920" y="464515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de saúde são dados pessoais sensíveis (LGPD, art. 5º) — proteção pensada desde a modelagem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977640"/>
            <a:ext cx="1554480" cy="1170432"/>
          </a:xfrm>
          <a:prstGeom prst="rtTriangle">
            <a:avLst/>
          </a:prstGeom>
          <a:solidFill>
            <a:srgbClr val="E8D5A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26280"/>
            <a:ext cx="2743200" cy="621792"/>
          </a:xfrm>
          <a:prstGeom prst="rtTriangle">
            <a:avLst/>
          </a:prstGeom>
          <a:solidFill>
            <a:srgbClr val="1E2A4A"/>
          </a:solidFill>
          <a:ln/>
        </p:spPr>
      </p:sp>
      <p:sp>
        <p:nvSpPr>
          <p:cNvPr id="4" name="Text 2"/>
          <p:cNvSpPr/>
          <p:nvPr/>
        </p:nvSpPr>
        <p:spPr>
          <a:xfrm>
            <a:off x="4937760" y="292608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Conclusão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77240" y="1143000"/>
            <a:ext cx="7589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funcional em produção (nutriopus.com.br) cobrindo o ciclo completo do atendimento nutricional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Arquitetura moderna, tipada e escalável: base sólida para evolução como produto SaaS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Automação reduz esforço administrativo e aumenta consistência da prescrição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do paciente cria acompanhamento contínuo entre consultas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77240" y="3200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987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Trabalhos futuros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" y="3639312"/>
            <a:ext cx="1810512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86968" y="3639312"/>
            <a:ext cx="1591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com nutricionistas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0" y="3639312"/>
            <a:ext cx="1810512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852928" y="3639312"/>
            <a:ext cx="1591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mobile do paciente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09160" y="3639312"/>
            <a:ext cx="1810512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18888" y="3639312"/>
            <a:ext cx="1591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Exames laboratoriais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675120" y="3639312"/>
            <a:ext cx="1810512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84848" y="3639312"/>
            <a:ext cx="1591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com supervisão profissional</a:t>
            </a:r>
            <a:endParaRPr lang="en-US" sz="115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13648" y="4736592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6400800" y="0"/>
            <a:ext cx="2743200" cy="5143500"/>
          </a:xfrm>
          <a:prstGeom prst="rtTriangle">
            <a:avLst/>
          </a:prstGeom>
          <a:solidFill>
            <a:srgbClr val="2A3B6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91840"/>
            <a:ext cx="2194560" cy="1851660"/>
          </a:xfrm>
          <a:prstGeom prst="rtTriangle">
            <a:avLst/>
          </a:prstGeom>
          <a:solidFill>
            <a:srgbClr val="E8D5AE"/>
          </a:solidFill>
          <a:ln/>
        </p:spPr>
      </p:sp>
      <p:sp>
        <p:nvSpPr>
          <p:cNvPr id="4" name="Shape 2"/>
          <p:cNvSpPr/>
          <p:nvPr/>
        </p:nvSpPr>
        <p:spPr>
          <a:xfrm>
            <a:off x="4178808" y="960120"/>
            <a:ext cx="786384" cy="786384"/>
          </a:xfrm>
          <a:prstGeom prst="ellipse">
            <a:avLst/>
          </a:prstGeom>
          <a:solidFill>
            <a:srgbClr val="F6EFD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75404" y="1156716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196596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Obrigado!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1828800" y="2926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D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nutriopus.com.br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828800" y="3429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0D6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Paulo Sérgio Oliveira Amorim Filho — ICOMP/UFAM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NutriOpus — Apresentação do TCC</dc:title>
  <dc:subject>PptxGenJS Presentation</dc:subject>
  <dc:creator>Paulo Sérgio Oliveira Amorim Filho</dc:creator>
  <cp:lastModifiedBy>Paulo Sérgio Oliveira Amorim Filho</cp:lastModifiedBy>
  <cp:revision>1</cp:revision>
  <dcterms:created xsi:type="dcterms:W3CDTF">2026-07-08T14:14:46Z</dcterms:created>
  <dcterms:modified xsi:type="dcterms:W3CDTF">2026-07-08T14:14:46Z</dcterms:modified>
</cp:coreProperties>
</file>